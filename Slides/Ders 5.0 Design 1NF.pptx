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82"/>
    <p:restoredTop sz="94789"/>
  </p:normalViewPr>
  <p:slideViewPr>
    <p:cSldViewPr snapToGrid="0">
      <p:cViewPr varScale="1">
        <p:scale>
          <a:sx n="117" d="100"/>
          <a:sy n="117" d="100"/>
        </p:scale>
        <p:origin x="1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244C5-5D67-C540-97C4-F007CFC432E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61CF0A-6864-C34D-AF93-337DF143A8F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0939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066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403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463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628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740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16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0907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4138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687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84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2809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6F4E-1D0B-3F44-AA0F-A3430AE5742F}" type="datetimeFigureOut">
              <a:rPr lang="tr-TR" smtClean="0"/>
              <a:t>14.04.2025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F4119-E0F6-1F4D-B682-E788BAE9B8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014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smail.parlak@ibu.edu.t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C624-1CD8-821A-6E4F-588BAC065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7772400" cy="3128963"/>
          </a:xfrm>
        </p:spPr>
        <p:txBody>
          <a:bodyPr>
            <a:normAutofit fontScale="90000"/>
          </a:bodyPr>
          <a:lstStyle/>
          <a:p>
            <a:r>
              <a:rPr lang="en-US" sz="3600" b="0" i="0" dirty="0">
                <a:effectLst/>
                <a:latin typeface="Helvetica Neue" panose="02000503000000020004" pitchFamily="2" charset="0"/>
              </a:rPr>
              <a:t>1906003022015</a:t>
            </a:r>
            <a:br>
              <a:rPr lang="en-US" sz="3600" b="0" i="0" dirty="0">
                <a:effectLst/>
                <a:latin typeface="Helvetica Neue" panose="02000503000000020004" pitchFamily="2" charset="0"/>
              </a:rPr>
            </a:br>
            <a:br>
              <a:rPr lang="en-US" sz="4400" b="0" i="0" dirty="0">
                <a:effectLst/>
                <a:latin typeface="Helvetica Neue" panose="02000503000000020004" pitchFamily="2" charset="0"/>
              </a:rPr>
            </a:br>
            <a:r>
              <a:rPr lang="en-US" sz="4900" b="0" i="0" dirty="0" err="1">
                <a:effectLst/>
                <a:latin typeface="Helvetica Neue" panose="02000503000000020004" pitchFamily="2" charset="0"/>
              </a:rPr>
              <a:t>Veritabanı</a:t>
            </a:r>
            <a:r>
              <a:rPr lang="en-US" sz="4900" b="0" i="0" dirty="0">
                <a:effectLst/>
                <a:latin typeface="Helvetica Neue" panose="02000503000000020004" pitchFamily="2" charset="0"/>
              </a:rPr>
              <a:t> </a:t>
            </a:r>
            <a:r>
              <a:rPr lang="en-US" sz="4900" b="0" i="0" dirty="0" err="1">
                <a:effectLst/>
                <a:latin typeface="Helvetica Neue" panose="02000503000000020004" pitchFamily="2" charset="0"/>
              </a:rPr>
              <a:t>Yönetim</a:t>
            </a:r>
            <a:r>
              <a:rPr lang="en-US" sz="4900" b="0" i="0" dirty="0">
                <a:effectLst/>
                <a:latin typeface="Helvetica Neue" panose="02000503000000020004" pitchFamily="2" charset="0"/>
              </a:rPr>
              <a:t> </a:t>
            </a:r>
            <a:r>
              <a:rPr lang="en-US" sz="4900" b="0" i="0" dirty="0" err="1">
                <a:effectLst/>
                <a:latin typeface="Helvetica Neue" panose="02000503000000020004" pitchFamily="2" charset="0"/>
              </a:rPr>
              <a:t>Sistemleri</a:t>
            </a:r>
            <a:br>
              <a:rPr lang="en-US" sz="4400" b="0" i="0" dirty="0">
                <a:effectLst/>
                <a:latin typeface="Helvetica Neue" panose="02000503000000020004" pitchFamily="2" charset="0"/>
              </a:rPr>
            </a:br>
            <a:br>
              <a:rPr lang="en-US" sz="4400" b="0" i="0" dirty="0">
                <a:effectLst/>
                <a:latin typeface="Helvetica Neue" panose="02000503000000020004" pitchFamily="2" charset="0"/>
              </a:rPr>
            </a:br>
            <a:r>
              <a:rPr lang="en-US" sz="3600" b="0" i="0" dirty="0">
                <a:effectLst/>
                <a:latin typeface="Helvetica Neue" panose="02000503000000020004" pitchFamily="2" charset="0"/>
              </a:rPr>
              <a:t>BAİBÜ </a:t>
            </a:r>
            <a:r>
              <a:rPr lang="en-US" sz="3600" b="0" i="0" dirty="0" err="1">
                <a:effectLst/>
                <a:latin typeface="Helvetica Neue" panose="02000503000000020004" pitchFamily="2" charset="0"/>
              </a:rPr>
              <a:t>Bilgisayar</a:t>
            </a:r>
            <a:r>
              <a:rPr lang="en-US" sz="3600" b="0" i="0" dirty="0">
                <a:effectLst/>
                <a:latin typeface="Helvetica Neue" panose="02000503000000020004" pitchFamily="2" charset="0"/>
              </a:rPr>
              <a:t> </a:t>
            </a:r>
            <a:r>
              <a:rPr lang="en-US" sz="3600" b="0" i="0" dirty="0" err="1">
                <a:effectLst/>
                <a:latin typeface="Helvetica Neue" panose="02000503000000020004" pitchFamily="2" charset="0"/>
              </a:rPr>
              <a:t>Müh</a:t>
            </a:r>
            <a:r>
              <a:rPr lang="en-US" sz="3600" b="0" i="0" dirty="0">
                <a:effectLst/>
                <a:latin typeface="Helvetica Neue" panose="02000503000000020004" pitchFamily="2" charset="0"/>
              </a:rPr>
              <a:t>.</a:t>
            </a:r>
            <a:endParaRPr lang="tr-TR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E7BEA-F879-FECB-91F0-4CCD0F58C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907756"/>
            <a:ext cx="6858000" cy="1655762"/>
          </a:xfrm>
        </p:spPr>
        <p:txBody>
          <a:bodyPr/>
          <a:lstStyle/>
          <a:p>
            <a:r>
              <a:rPr lang="tr-TR" dirty="0"/>
              <a:t>Dr. </a:t>
            </a:r>
            <a:r>
              <a:rPr lang="tr-TR" dirty="0" err="1"/>
              <a:t>Öğr</a:t>
            </a:r>
            <a:r>
              <a:rPr lang="tr-TR" dirty="0"/>
              <a:t>. Üyesi İsmail Hakkı Parlak</a:t>
            </a:r>
          </a:p>
          <a:p>
            <a:r>
              <a:rPr lang="tr-TR" dirty="0">
                <a:hlinkClick r:id="rId2"/>
              </a:rPr>
              <a:t>ismail.parlak@ibu.edu.tr</a:t>
            </a:r>
            <a:endParaRPr lang="tr-TR" dirty="0"/>
          </a:p>
          <a:p>
            <a:r>
              <a:rPr lang="tr-TR" dirty="0"/>
              <a:t>Oda: 335</a:t>
            </a:r>
          </a:p>
        </p:txBody>
      </p:sp>
    </p:spTree>
    <p:extLst>
      <p:ext uri="{BB962C8B-B14F-4D97-AF65-F5344CB8AC3E}">
        <p14:creationId xmlns:p14="http://schemas.microsoft.com/office/powerpoint/2010/main" val="3350177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6584-4D2D-04D6-C96A-821F53E9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İlişkisel Veritabanı Tasarımı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5A12A-6E54-ADD8-6CE8-6A514FDA2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Genelde </a:t>
            </a:r>
            <a:r>
              <a:rPr lang="tr-TR" dirty="0" err="1"/>
              <a:t>DB'de</a:t>
            </a:r>
            <a:r>
              <a:rPr lang="tr-TR" dirty="0"/>
              <a:t> saklamak istediğimiz ilişkiler için birden çok tasarım uygulanabilir.</a:t>
            </a:r>
          </a:p>
          <a:p>
            <a:r>
              <a:rPr lang="tr-TR" dirty="0"/>
              <a:t>Bazı tasarımlar diğerlerinden daha iyidir.</a:t>
            </a:r>
          </a:p>
          <a:p>
            <a:r>
              <a:rPr lang="tr-TR" dirty="0"/>
              <a:t>Nasıl karar veriyoruz?</a:t>
            </a:r>
          </a:p>
          <a:p>
            <a:endParaRPr lang="tr-TR" dirty="0"/>
          </a:p>
          <a:p>
            <a:r>
              <a:rPr lang="tr-TR" dirty="0"/>
              <a:t>Genelde üst seviye tasarım yazılımları kullanılır.</a:t>
            </a:r>
          </a:p>
          <a:p>
            <a:r>
              <a:rPr lang="tr-TR" dirty="0"/>
              <a:t>Tasarım el ile de yapılabilir.</a:t>
            </a:r>
          </a:p>
        </p:txBody>
      </p:sp>
    </p:spTree>
    <p:extLst>
      <p:ext uri="{BB962C8B-B14F-4D97-AF65-F5344CB8AC3E}">
        <p14:creationId xmlns:p14="http://schemas.microsoft.com/office/powerpoint/2010/main" val="279129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C907-8615-1DCD-A0DF-E378E4C84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9A21C-E930-ABA8-EB9A-23100282D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Öğrencinin üniversite başvuruları için:</a:t>
            </a:r>
          </a:p>
          <a:p>
            <a:r>
              <a:rPr lang="tr-TR" dirty="0" err="1"/>
              <a:t>TCNo</a:t>
            </a:r>
            <a:r>
              <a:rPr lang="tr-TR" dirty="0"/>
              <a:t>, ad</a:t>
            </a:r>
          </a:p>
          <a:p>
            <a:r>
              <a:rPr lang="tr-TR" dirty="0"/>
              <a:t>Başvurulan üniversiteler</a:t>
            </a:r>
          </a:p>
          <a:p>
            <a:r>
              <a:rPr lang="tr-TR" dirty="0"/>
              <a:t>Gittiği liseler ve okulların şehirleri</a:t>
            </a:r>
          </a:p>
          <a:p>
            <a:r>
              <a:rPr lang="tr-TR" dirty="0"/>
              <a:t>Hobiler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Başvurular(</a:t>
            </a:r>
            <a:r>
              <a:rPr lang="tr-TR" dirty="0" err="1"/>
              <a:t>TCNo</a:t>
            </a:r>
            <a:r>
              <a:rPr lang="tr-TR" dirty="0"/>
              <a:t>, ad, üniversite, lise, </a:t>
            </a:r>
            <a:r>
              <a:rPr lang="tr-TR" dirty="0" err="1"/>
              <a:t>liseŞehri</a:t>
            </a:r>
            <a:r>
              <a:rPr lang="tr-TR" dirty="0"/>
              <a:t>, hobi)</a:t>
            </a:r>
          </a:p>
        </p:txBody>
      </p:sp>
    </p:spTree>
    <p:extLst>
      <p:ext uri="{BB962C8B-B14F-4D97-AF65-F5344CB8AC3E}">
        <p14:creationId xmlns:p14="http://schemas.microsoft.com/office/powerpoint/2010/main" val="324173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C907-8615-1DCD-A0DF-E378E4C84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9A21C-E930-ABA8-EB9A-23100282D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88213"/>
          </a:xfrm>
        </p:spPr>
        <p:txBody>
          <a:bodyPr/>
          <a:lstStyle/>
          <a:p>
            <a:pPr marL="0" indent="0">
              <a:buNone/>
            </a:pPr>
            <a:r>
              <a:rPr lang="tr-TR" b="1" dirty="0"/>
              <a:t>Başvurular(</a:t>
            </a:r>
            <a:r>
              <a:rPr lang="tr-TR" b="1" dirty="0" err="1"/>
              <a:t>TCNo</a:t>
            </a:r>
            <a:r>
              <a:rPr lang="tr-TR" b="1" dirty="0"/>
              <a:t>, ad, üniversite, lise, </a:t>
            </a:r>
            <a:r>
              <a:rPr lang="tr-TR" b="1" dirty="0" err="1"/>
              <a:t>liseŞehri</a:t>
            </a:r>
            <a:r>
              <a:rPr lang="tr-TR" b="1" dirty="0"/>
              <a:t>, hobi)</a:t>
            </a:r>
          </a:p>
          <a:p>
            <a:pPr marL="0" indent="0">
              <a:buNone/>
            </a:pPr>
            <a:r>
              <a:rPr lang="tr-TR" sz="1800" i="1" dirty="0"/>
              <a:t>123 </a:t>
            </a:r>
            <a:r>
              <a:rPr lang="tr-TR" sz="1800" i="1" dirty="0" err="1"/>
              <a:t>TCNo'lu</a:t>
            </a:r>
            <a:r>
              <a:rPr lang="tr-TR" sz="1800" i="1" dirty="0"/>
              <a:t> futbol oynamayı ve yüzmeyi seven Ali Veli, Atatürk Lisesi (Ankara) ve Bornova Anadolu Lisesi'nde (İzmir) okumuş; AÜ, BAİBÜ, ve İÜ'ye başvurmuştur. 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FE99EB5-7D29-8C72-68DE-8ABEBC859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531139"/>
              </p:ext>
            </p:extLst>
          </p:nvPr>
        </p:nvGraphicFramePr>
        <p:xfrm>
          <a:off x="757878" y="3003378"/>
          <a:ext cx="77574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912">
                  <a:extLst>
                    <a:ext uri="{9D8B030D-6E8A-4147-A177-3AD203B41FA5}">
                      <a16:colId xmlns:a16="http://schemas.microsoft.com/office/drawing/2014/main" val="3420663682"/>
                    </a:ext>
                  </a:extLst>
                </a:gridCol>
                <a:gridCol w="1292912">
                  <a:extLst>
                    <a:ext uri="{9D8B030D-6E8A-4147-A177-3AD203B41FA5}">
                      <a16:colId xmlns:a16="http://schemas.microsoft.com/office/drawing/2014/main" val="1903067789"/>
                    </a:ext>
                  </a:extLst>
                </a:gridCol>
                <a:gridCol w="1292912">
                  <a:extLst>
                    <a:ext uri="{9D8B030D-6E8A-4147-A177-3AD203B41FA5}">
                      <a16:colId xmlns:a16="http://schemas.microsoft.com/office/drawing/2014/main" val="745715926"/>
                    </a:ext>
                  </a:extLst>
                </a:gridCol>
                <a:gridCol w="1292912">
                  <a:extLst>
                    <a:ext uri="{9D8B030D-6E8A-4147-A177-3AD203B41FA5}">
                      <a16:colId xmlns:a16="http://schemas.microsoft.com/office/drawing/2014/main" val="3136635392"/>
                    </a:ext>
                  </a:extLst>
                </a:gridCol>
                <a:gridCol w="1292912">
                  <a:extLst>
                    <a:ext uri="{9D8B030D-6E8A-4147-A177-3AD203B41FA5}">
                      <a16:colId xmlns:a16="http://schemas.microsoft.com/office/drawing/2014/main" val="2555199537"/>
                    </a:ext>
                  </a:extLst>
                </a:gridCol>
                <a:gridCol w="1292912">
                  <a:extLst>
                    <a:ext uri="{9D8B030D-6E8A-4147-A177-3AD203B41FA5}">
                      <a16:colId xmlns:a16="http://schemas.microsoft.com/office/drawing/2014/main" val="3317717680"/>
                    </a:ext>
                  </a:extLst>
                </a:gridCol>
              </a:tblGrid>
              <a:tr h="207368">
                <a:tc>
                  <a:txBody>
                    <a:bodyPr/>
                    <a:lstStyle/>
                    <a:p>
                      <a:r>
                        <a:rPr lang="tr-TR" sz="1050" dirty="0" err="1"/>
                        <a:t>TCNo</a:t>
                      </a:r>
                      <a:endParaRPr lang="tr-T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üniversite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 err="1"/>
                        <a:t>liseŞehri</a:t>
                      </a:r>
                      <a:endParaRPr lang="tr-T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hobi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499882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Atatürk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Ankara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futbol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370348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BAİBÜ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Atatürk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Ankara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futbol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127879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Atatürk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Ankara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futbol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348262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Bornova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İzmir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futbol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944589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BAİBÜ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Bornova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İzmir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futbol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372991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Bornova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İzmir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futbol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501876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Atatürk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Ankara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yüzme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238302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BAİBÜ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Atatürk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Ankara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yüzme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565260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Atatürk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Ankara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yüzme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245142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Bornova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İzmir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yüzme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638728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BAİBÜ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Bornova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İzmir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yüzme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065438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Ali 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Bornova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İzmir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yüzme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832166"/>
                  </a:ext>
                </a:extLst>
              </a:tr>
              <a:tr h="207368">
                <a:tc>
                  <a:txBody>
                    <a:bodyPr/>
                    <a:lstStyle/>
                    <a:p>
                      <a:r>
                        <a:rPr lang="tr-TR" sz="1050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Kadıköy Anadolu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İstanbul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050" dirty="0"/>
                        <a:t>tenis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689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75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C907-8615-1DCD-A0DF-E378E4C84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9A21C-E930-ABA8-EB9A-23100282D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882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/>
              <a:t>Başvurular(</a:t>
            </a:r>
            <a:r>
              <a:rPr lang="tr-TR" b="1" dirty="0" err="1"/>
              <a:t>TCNo</a:t>
            </a:r>
            <a:r>
              <a:rPr lang="tr-TR" b="1" dirty="0"/>
              <a:t>, ad, üniversite, lise, </a:t>
            </a:r>
            <a:r>
              <a:rPr lang="tr-TR" b="1" dirty="0" err="1"/>
              <a:t>liseŞehri</a:t>
            </a:r>
            <a:r>
              <a:rPr lang="tr-TR" b="1" dirty="0"/>
              <a:t>, hobi)</a:t>
            </a:r>
          </a:p>
          <a:p>
            <a:pPr marL="0" indent="0">
              <a:buNone/>
            </a:pPr>
            <a:r>
              <a:rPr lang="tr-TR" sz="1800" i="1" dirty="0"/>
              <a:t>123 </a:t>
            </a:r>
            <a:r>
              <a:rPr lang="tr-TR" sz="1800" i="1" dirty="0" err="1"/>
              <a:t>TCNo'lu</a:t>
            </a:r>
            <a:r>
              <a:rPr lang="tr-TR" sz="1800" i="1" dirty="0"/>
              <a:t> futbol oynamayı ve yüzmeyi seven Ali Veli, Atatürk Lisesi (Ankara) ve Bornova Anadolu Lisesi'nde (İzmir) okumuş; AÜ, BAİBÜ, ve İÜ'ye başvurmuştur. </a:t>
            </a:r>
          </a:p>
          <a:p>
            <a:pPr marL="0" indent="0">
              <a:buNone/>
            </a:pPr>
            <a:endParaRPr lang="tr-TR" sz="1800" i="1" dirty="0"/>
          </a:p>
          <a:p>
            <a:pPr marL="0" indent="0">
              <a:buNone/>
            </a:pPr>
            <a:r>
              <a:rPr lang="tr-TR" sz="1800" dirty="0"/>
              <a:t>Tasarım Anomalileri (Design </a:t>
            </a:r>
            <a:r>
              <a:rPr lang="tr-TR" sz="1800" dirty="0" err="1"/>
              <a:t>Anomalies</a:t>
            </a:r>
            <a:r>
              <a:rPr lang="tr-TR" sz="1800" dirty="0"/>
              <a:t>):</a:t>
            </a:r>
          </a:p>
          <a:p>
            <a:r>
              <a:rPr lang="tr-TR" sz="1800" b="1" dirty="0"/>
              <a:t>Lüzumsuzluk (</a:t>
            </a:r>
            <a:r>
              <a:rPr lang="tr-TR" sz="1800" b="1" dirty="0" err="1"/>
              <a:t>Redundancy</a:t>
            </a:r>
            <a:r>
              <a:rPr lang="tr-TR" sz="1800" b="1" dirty="0"/>
              <a:t>): </a:t>
            </a:r>
            <a:r>
              <a:rPr lang="tr-TR" sz="1800" dirty="0"/>
              <a:t>123 </a:t>
            </a:r>
            <a:r>
              <a:rPr lang="tr-TR" sz="1800" dirty="0" err="1"/>
              <a:t>TCNo'sunun</a:t>
            </a:r>
            <a:r>
              <a:rPr lang="tr-TR" sz="1800" dirty="0"/>
              <a:t> Ali Veliye ait olduğunu 12; Ali Veli'nin </a:t>
            </a:r>
            <a:r>
              <a:rPr lang="tr-TR" sz="1800" dirty="0" err="1"/>
              <a:t>BAİBÜ'ye</a:t>
            </a:r>
            <a:r>
              <a:rPr lang="tr-TR" sz="1800" dirty="0"/>
              <a:t> başvurduğunu 4; Ali Veli'nin yüzmeyi sevdiğini 6 kere tabloya kaydettik!</a:t>
            </a:r>
          </a:p>
          <a:p>
            <a:r>
              <a:rPr lang="tr-TR" sz="1800" b="1" dirty="0"/>
              <a:t>Güncelleme Anomalisi (Update </a:t>
            </a:r>
            <a:r>
              <a:rPr lang="tr-TR" sz="1800" b="1" dirty="0" err="1"/>
              <a:t>Anomaly</a:t>
            </a:r>
            <a:r>
              <a:rPr lang="tr-TR" sz="1800" b="1" dirty="0"/>
              <a:t>): </a:t>
            </a:r>
            <a:r>
              <a:rPr lang="tr-TR" sz="1800" dirty="0"/>
              <a:t>Ali'nin futbol hobisini </a:t>
            </a:r>
            <a:r>
              <a:rPr lang="tr-TR" sz="1800"/>
              <a:t>futsal </a:t>
            </a:r>
            <a:r>
              <a:rPr lang="tr-TR" sz="1800" dirty="0"/>
              <a:t>olarak güncellemek isterken bazı kayıtlar gözden kaçabilir!</a:t>
            </a:r>
          </a:p>
          <a:p>
            <a:r>
              <a:rPr lang="tr-TR" sz="1800" b="1" dirty="0"/>
              <a:t>Silme Anomalisi (</a:t>
            </a:r>
            <a:r>
              <a:rPr lang="tr-TR" sz="1800" b="1" dirty="0" err="1"/>
              <a:t>Deletion</a:t>
            </a:r>
            <a:r>
              <a:rPr lang="tr-TR" sz="1800" b="1" dirty="0"/>
              <a:t> </a:t>
            </a:r>
            <a:r>
              <a:rPr lang="tr-TR" sz="1800" b="1" dirty="0" err="1"/>
              <a:t>Anomaly</a:t>
            </a:r>
            <a:r>
              <a:rPr lang="tr-TR" sz="1800" b="1" dirty="0"/>
              <a:t>): </a:t>
            </a:r>
            <a:r>
              <a:rPr lang="tr-TR" sz="1800" dirty="0"/>
              <a:t>Tablodan bir veri silinirken silinmemesi gereken bilgilerin de kaybolması. Kadıköy Anadolu Lisesi'ni sildiğimizde Ayşe'nin başvurusuna ait bilgilerin tamamen kaybolması.</a:t>
            </a:r>
          </a:p>
          <a:p>
            <a:r>
              <a:rPr lang="tr-TR" sz="1800" b="1" dirty="0"/>
              <a:t>Ekleme Anomalisi (</a:t>
            </a:r>
            <a:r>
              <a:rPr lang="tr-TR" sz="1800" b="1" dirty="0" err="1"/>
              <a:t>Insertion</a:t>
            </a:r>
            <a:r>
              <a:rPr lang="tr-TR" sz="1800" b="1" dirty="0"/>
              <a:t> </a:t>
            </a:r>
            <a:r>
              <a:rPr lang="tr-TR" sz="1800" b="1" dirty="0" err="1"/>
              <a:t>Anomaly</a:t>
            </a:r>
            <a:r>
              <a:rPr lang="tr-TR" sz="1800" b="1" dirty="0"/>
              <a:t>): </a:t>
            </a:r>
            <a:r>
              <a:rPr lang="tr-TR" sz="1800" dirty="0"/>
              <a:t>Hiç hobisi olmayan Hakan'ı tabloya eklemek istediğimizde hobi sütunu boş kalacağı için ekleme işlemimiz reddedilebilir.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846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C907-8615-1DCD-A0DF-E378E4C84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9A21C-E930-ABA8-EB9A-23100282D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Öğrencinin üniversite başvuruları için:</a:t>
            </a:r>
          </a:p>
          <a:p>
            <a:r>
              <a:rPr lang="tr-TR" sz="2000" dirty="0" err="1"/>
              <a:t>TCNo</a:t>
            </a:r>
            <a:r>
              <a:rPr lang="tr-TR" sz="2000" dirty="0"/>
              <a:t>, ad</a:t>
            </a:r>
          </a:p>
          <a:p>
            <a:r>
              <a:rPr lang="tr-TR" sz="2000" dirty="0"/>
              <a:t>Başvurulan üniversiteler</a:t>
            </a:r>
          </a:p>
          <a:p>
            <a:r>
              <a:rPr lang="tr-TR" sz="2000" dirty="0"/>
              <a:t>Gittiği liseler ve okulların şehirleri</a:t>
            </a:r>
          </a:p>
          <a:p>
            <a:r>
              <a:rPr lang="tr-TR" sz="2000" dirty="0"/>
              <a:t>Hobiler</a:t>
            </a:r>
          </a:p>
          <a:p>
            <a:pPr marL="0" indent="0">
              <a:buNone/>
            </a:pPr>
            <a:r>
              <a:rPr lang="tr-TR" sz="2000" b="1" dirty="0" err="1"/>
              <a:t>Anomalisiz</a:t>
            </a:r>
            <a:r>
              <a:rPr lang="tr-TR" sz="2000" b="1" dirty="0"/>
              <a:t> alternatif tasarım (ve orijinal data bu ilişkilerden geri oluşturulabilir):</a:t>
            </a:r>
          </a:p>
          <a:p>
            <a:pPr marL="0" indent="0">
              <a:buNone/>
            </a:pPr>
            <a:r>
              <a:rPr lang="tr-TR" sz="1900" dirty="0"/>
              <a:t>Öğrenciler(</a:t>
            </a:r>
            <a:r>
              <a:rPr lang="tr-TR" sz="1900" dirty="0" err="1"/>
              <a:t>TCNo</a:t>
            </a:r>
            <a:r>
              <a:rPr lang="tr-TR" sz="1900" dirty="0"/>
              <a:t>, ad)</a:t>
            </a:r>
          </a:p>
          <a:p>
            <a:pPr marL="0" indent="0">
              <a:buNone/>
            </a:pPr>
            <a:r>
              <a:rPr lang="tr-TR" sz="1900" dirty="0"/>
              <a:t>Başvurular(</a:t>
            </a:r>
            <a:r>
              <a:rPr lang="tr-TR" sz="1900" dirty="0" err="1"/>
              <a:t>TCNo</a:t>
            </a:r>
            <a:r>
              <a:rPr lang="tr-TR" sz="1900" dirty="0"/>
              <a:t>, üniversite)</a:t>
            </a:r>
          </a:p>
          <a:p>
            <a:pPr marL="0" indent="0">
              <a:buNone/>
            </a:pPr>
            <a:r>
              <a:rPr lang="tr-TR" sz="1900" dirty="0" err="1"/>
              <a:t>ÖğrenciLiseleri</a:t>
            </a:r>
            <a:r>
              <a:rPr lang="tr-TR" sz="1900" dirty="0"/>
              <a:t>(</a:t>
            </a:r>
            <a:r>
              <a:rPr lang="tr-TR" sz="1900" dirty="0" err="1"/>
              <a:t>TCNo</a:t>
            </a:r>
            <a:r>
              <a:rPr lang="tr-TR" sz="1900" dirty="0"/>
              <a:t>, lise, </a:t>
            </a:r>
            <a:r>
              <a:rPr lang="tr-TR" sz="1900" dirty="0" err="1"/>
              <a:t>liseŞehri</a:t>
            </a:r>
            <a:r>
              <a:rPr lang="tr-TR" sz="1900" dirty="0"/>
              <a:t>)</a:t>
            </a:r>
          </a:p>
          <a:p>
            <a:pPr marL="0" indent="0">
              <a:buNone/>
            </a:pPr>
            <a:r>
              <a:rPr lang="tr-TR" sz="1900" dirty="0"/>
              <a:t>Hobiler(</a:t>
            </a:r>
            <a:r>
              <a:rPr lang="tr-TR" sz="1900" dirty="0" err="1"/>
              <a:t>TCNo</a:t>
            </a:r>
            <a:r>
              <a:rPr lang="tr-TR" sz="1900" dirty="0"/>
              <a:t>, hobi)</a:t>
            </a:r>
          </a:p>
        </p:txBody>
      </p:sp>
    </p:spTree>
    <p:extLst>
      <p:ext uri="{BB962C8B-B14F-4D97-AF65-F5344CB8AC3E}">
        <p14:creationId xmlns:p14="http://schemas.microsoft.com/office/powerpoint/2010/main" val="47411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F88A-DAFB-57C2-38F8-4368CDF6D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Ayrıştırma ile Tasarım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EAD8F-9F50-0F87-FDBE-8F37582F1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Her niteliği barındıran "dev" ilişkiler ile başlıyoruz.</a:t>
            </a:r>
          </a:p>
          <a:p>
            <a:r>
              <a:rPr lang="tr-TR" dirty="0"/>
              <a:t>Dev ilişkiyi, aynı bilgileri barındırabileceğimiz daha küçük ilişkilere doğru ayrıştırıyoruz.</a:t>
            </a:r>
          </a:p>
          <a:p>
            <a:r>
              <a:rPr lang="tr-TR" dirty="0"/>
              <a:t> Ayrıştırma işlemini otomatik gerçekleştirebiliriz:</a:t>
            </a:r>
          </a:p>
          <a:p>
            <a:pPr lvl="1"/>
            <a:r>
              <a:rPr lang="tr-TR" dirty="0"/>
              <a:t>Dev ilişkiler + veriye ait özellikler belirlenir.</a:t>
            </a:r>
          </a:p>
          <a:p>
            <a:pPr lvl="1"/>
            <a:r>
              <a:rPr lang="tr-TR" dirty="0"/>
              <a:t>Sistem veriye ait özellikler kullanılarak ayrıştırılır.</a:t>
            </a:r>
          </a:p>
          <a:p>
            <a:pPr lvl="1"/>
            <a:r>
              <a:rPr lang="tr-TR" dirty="0"/>
              <a:t>En son elde edilen ilişkiler </a:t>
            </a:r>
            <a:r>
              <a:rPr lang="tr-TR" b="1" i="1" dirty="0"/>
              <a:t>normal formlar</a:t>
            </a:r>
            <a:r>
              <a:rPr lang="tr-TR" dirty="0"/>
              <a:t>ı sağlar.</a:t>
            </a:r>
          </a:p>
          <a:p>
            <a:pPr lvl="1"/>
            <a:r>
              <a:rPr lang="tr-TR" dirty="0"/>
              <a:t>Bu sayede anomali oluşma ihtimali ortadan kalkar ve veri kaybı yaşanmaz.</a:t>
            </a:r>
          </a:p>
        </p:txBody>
      </p:sp>
    </p:spTree>
    <p:extLst>
      <p:ext uri="{BB962C8B-B14F-4D97-AF65-F5344CB8AC3E}">
        <p14:creationId xmlns:p14="http://schemas.microsoft.com/office/powerpoint/2010/main" val="2256171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1816-3C8C-597B-8332-4970C8A7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Normal Formlar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70A97-41EE-AA66-DB01-2561991B75C4}"/>
              </a:ext>
            </a:extLst>
          </p:cNvPr>
          <p:cNvSpPr/>
          <p:nvPr/>
        </p:nvSpPr>
        <p:spPr>
          <a:xfrm>
            <a:off x="2338469" y="1659415"/>
            <a:ext cx="4572000" cy="4572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551744-0D6D-A6E3-78E3-08DD9FA349BD}"/>
              </a:ext>
            </a:extLst>
          </p:cNvPr>
          <p:cNvSpPr/>
          <p:nvPr/>
        </p:nvSpPr>
        <p:spPr>
          <a:xfrm>
            <a:off x="2745214" y="2063079"/>
            <a:ext cx="3758509" cy="37585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4BF9F0-ACC6-618A-4158-F61D1E73B2CE}"/>
              </a:ext>
            </a:extLst>
          </p:cNvPr>
          <p:cNvSpPr/>
          <p:nvPr/>
        </p:nvSpPr>
        <p:spPr>
          <a:xfrm>
            <a:off x="3125928" y="2482134"/>
            <a:ext cx="2975955" cy="29759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F6CBE7-5319-BE8F-6A45-0E93C6537C30}"/>
              </a:ext>
            </a:extLst>
          </p:cNvPr>
          <p:cNvSpPr/>
          <p:nvPr/>
        </p:nvSpPr>
        <p:spPr>
          <a:xfrm>
            <a:off x="3513065" y="2901189"/>
            <a:ext cx="2117870" cy="21178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D5675A-E0DB-055D-FB08-71C16F5CDF36}"/>
              </a:ext>
            </a:extLst>
          </p:cNvPr>
          <p:cNvSpPr/>
          <p:nvPr/>
        </p:nvSpPr>
        <p:spPr>
          <a:xfrm>
            <a:off x="3904925" y="3293049"/>
            <a:ext cx="1334150" cy="13341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B194F0-1C85-EC5E-4C2A-2275D36A0911}"/>
              </a:ext>
            </a:extLst>
          </p:cNvPr>
          <p:cNvSpPr txBox="1"/>
          <p:nvPr/>
        </p:nvSpPr>
        <p:spPr>
          <a:xfrm>
            <a:off x="3639252" y="2681117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BCNF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02CDB1-C579-6318-AACA-C1E7B351A4A6}"/>
              </a:ext>
            </a:extLst>
          </p:cNvPr>
          <p:cNvSpPr txBox="1"/>
          <p:nvPr/>
        </p:nvSpPr>
        <p:spPr>
          <a:xfrm>
            <a:off x="3125928" y="211280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2NF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1CA892-EF79-D491-97B2-2F2E044C1A6C}"/>
              </a:ext>
            </a:extLst>
          </p:cNvPr>
          <p:cNvSpPr txBox="1"/>
          <p:nvPr/>
        </p:nvSpPr>
        <p:spPr>
          <a:xfrm>
            <a:off x="3426694" y="241132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3NF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1A1F07-FB13-D4FC-229C-C4B7C0678F33}"/>
              </a:ext>
            </a:extLst>
          </p:cNvPr>
          <p:cNvSpPr txBox="1"/>
          <p:nvPr/>
        </p:nvSpPr>
        <p:spPr>
          <a:xfrm>
            <a:off x="2781565" y="176455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1NF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F99E9E-6260-84A6-CA38-A08429D7FE1C}"/>
              </a:ext>
            </a:extLst>
          </p:cNvPr>
          <p:cNvSpPr txBox="1"/>
          <p:nvPr/>
        </p:nvSpPr>
        <p:spPr>
          <a:xfrm>
            <a:off x="3966628" y="302226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4NF</a:t>
            </a:r>
          </a:p>
        </p:txBody>
      </p:sp>
    </p:spTree>
    <p:extLst>
      <p:ext uri="{BB962C8B-B14F-4D97-AF65-F5344CB8AC3E}">
        <p14:creationId xmlns:p14="http://schemas.microsoft.com/office/powerpoint/2010/main" val="1122762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E9088-A5FE-756B-9450-49DAEF25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7878F-FA61-9B15-B375-D497BDD47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Bir </a:t>
            </a:r>
            <a:r>
              <a:rPr lang="en-US" dirty="0" err="1"/>
              <a:t>tablo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özelliklere</a:t>
            </a:r>
            <a:r>
              <a:rPr lang="en-US" dirty="0"/>
              <a:t> </a:t>
            </a:r>
            <a:r>
              <a:rPr lang="en-US" dirty="0" err="1"/>
              <a:t>sahipse</a:t>
            </a:r>
            <a:r>
              <a:rPr lang="en-US" dirty="0"/>
              <a:t> 1. </a:t>
            </a:r>
            <a:r>
              <a:rPr lang="en-US" dirty="0" err="1"/>
              <a:t>NF’dadır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Sütunlarda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değerli</a:t>
            </a:r>
            <a:r>
              <a:rPr lang="en-US" dirty="0"/>
              <a:t> </a:t>
            </a:r>
            <a:r>
              <a:rPr lang="en-US" dirty="0" err="1"/>
              <a:t>nitelikler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sütunda</a:t>
            </a:r>
            <a:r>
              <a:rPr lang="en-US" dirty="0"/>
              <a:t> 1’den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tipte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Her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benzersiz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ad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Primary key </a:t>
            </a:r>
            <a:r>
              <a:rPr lang="en-US" dirty="0" err="1"/>
              <a:t>bulunmalıdır</a:t>
            </a:r>
            <a:r>
              <a:rPr lang="en-US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sütunlar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014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D23D7-5EE1-04D7-088E-C2B1FE17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8CFC-B400-0F99-8756-18368CE9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75020C-123E-D6B7-15AC-E36EF9F6C3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085175"/>
              </p:ext>
            </p:extLst>
          </p:nvPr>
        </p:nvGraphicFramePr>
        <p:xfrm>
          <a:off x="628650" y="2060021"/>
          <a:ext cx="78867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24165940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842807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ülkeKodu, telefon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ülkeKodu, telefon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90, 5551234567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90, 5321234567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Ger, 123546789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90, 5051234567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90, 5054567891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0155C0-F8E1-2EA5-FC8E-AE0982E1708C}"/>
              </a:ext>
            </a:extLst>
          </p:cNvPr>
          <p:cNvSpPr txBox="1"/>
          <p:nvPr/>
        </p:nvSpPr>
        <p:spPr>
          <a:xfrm>
            <a:off x="4007486" y="1690689"/>
            <a:ext cx="112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öğrenciler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9F01F-5EB4-2876-B14E-4C811756386E}"/>
              </a:ext>
            </a:extLst>
          </p:cNvPr>
          <p:cNvSpPr txBox="1"/>
          <p:nvPr/>
        </p:nvSpPr>
        <p:spPr>
          <a:xfrm>
            <a:off x="2156403" y="3912713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Sütunlarda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değerli</a:t>
            </a:r>
            <a:r>
              <a:rPr lang="en-US" dirty="0"/>
              <a:t> </a:t>
            </a:r>
            <a:r>
              <a:rPr lang="en-US" dirty="0" err="1"/>
              <a:t>nitelikler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sütunda</a:t>
            </a:r>
            <a:r>
              <a:rPr lang="en-US" dirty="0"/>
              <a:t> 1’den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tipte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Her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benzersiz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ad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Primary key </a:t>
            </a:r>
            <a:r>
              <a:rPr lang="en-US" dirty="0" err="1"/>
              <a:t>bulunmalıdır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sütunlar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4429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4576822"/>
              </p:ext>
            </p:extLst>
          </p:nvPr>
        </p:nvGraphicFramePr>
        <p:xfrm>
          <a:off x="628649" y="2060021"/>
          <a:ext cx="78867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354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  <a:gridCol w="1224010">
                  <a:extLst>
                    <a:ext uri="{9D8B030D-6E8A-4147-A177-3AD203B41FA5}">
                      <a16:colId xmlns:a16="http://schemas.microsoft.com/office/drawing/2014/main" val="1241659408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2879877989"/>
                    </a:ext>
                  </a:extLst>
                </a:gridCol>
                <a:gridCol w="1169275">
                  <a:extLst>
                    <a:ext uri="{9D8B030D-6E8A-4147-A177-3AD203B41FA5}">
                      <a16:colId xmlns:a16="http://schemas.microsoft.com/office/drawing/2014/main" val="842807791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1846455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telefon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telefon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5551234567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5321234567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123546789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5051234567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5054567891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4007485" y="1690689"/>
            <a:ext cx="112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öğrenciler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9544E-6846-298C-DBD2-07DA7542ADFC}"/>
              </a:ext>
            </a:extLst>
          </p:cNvPr>
          <p:cNvSpPr txBox="1"/>
          <p:nvPr/>
        </p:nvSpPr>
        <p:spPr>
          <a:xfrm>
            <a:off x="2156403" y="3912713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Sütunlarda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yalnızca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değerli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nitelikler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sütunda</a:t>
            </a:r>
            <a:r>
              <a:rPr lang="en-US" dirty="0"/>
              <a:t> 1’den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tipte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Her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benzersiz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ad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Primary key </a:t>
            </a:r>
            <a:r>
              <a:rPr lang="en-US" dirty="0" err="1"/>
              <a:t>bulunmalıdır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sütunlar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062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216451"/>
              </p:ext>
            </p:extLst>
          </p:nvPr>
        </p:nvGraphicFramePr>
        <p:xfrm>
          <a:off x="628649" y="2060021"/>
          <a:ext cx="78867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354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  <a:gridCol w="1224010">
                  <a:extLst>
                    <a:ext uri="{9D8B030D-6E8A-4147-A177-3AD203B41FA5}">
                      <a16:colId xmlns:a16="http://schemas.microsoft.com/office/drawing/2014/main" val="1241659408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2879877989"/>
                    </a:ext>
                  </a:extLst>
                </a:gridCol>
                <a:gridCol w="1169275">
                  <a:extLst>
                    <a:ext uri="{9D8B030D-6E8A-4147-A177-3AD203B41FA5}">
                      <a16:colId xmlns:a16="http://schemas.microsoft.com/office/drawing/2014/main" val="842807791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1846455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telefon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telefon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5551234567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5321234567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123546789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5051234567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5054567891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4007485" y="1690689"/>
            <a:ext cx="112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öğrenciler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9544E-6846-298C-DBD2-07DA7542ADFC}"/>
              </a:ext>
            </a:extLst>
          </p:cNvPr>
          <p:cNvSpPr txBox="1"/>
          <p:nvPr/>
        </p:nvSpPr>
        <p:spPr>
          <a:xfrm>
            <a:off x="2156403" y="3912713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Sütunlarda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yalnızca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değerli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nitelikler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Aynı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sütunda</a:t>
            </a:r>
            <a:r>
              <a:rPr lang="en-US" dirty="0">
                <a:solidFill>
                  <a:srgbClr val="00B050"/>
                </a:solidFill>
              </a:rPr>
              <a:t> 1’den </a:t>
            </a:r>
            <a:r>
              <a:rPr lang="en-US" dirty="0" err="1">
                <a:solidFill>
                  <a:srgbClr val="00B050"/>
                </a:solidFill>
              </a:rPr>
              <a:t>çok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tipte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veri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olmamalıdır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Her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benzersiz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ad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Primary key </a:t>
            </a:r>
            <a:r>
              <a:rPr lang="en-US" dirty="0" err="1"/>
              <a:t>bulunmalıdır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sütunlar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5546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223241"/>
              </p:ext>
            </p:extLst>
          </p:nvPr>
        </p:nvGraphicFramePr>
        <p:xfrm>
          <a:off x="628649" y="2060021"/>
          <a:ext cx="76013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208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  <a:gridCol w="1401699">
                  <a:extLst>
                    <a:ext uri="{9D8B030D-6E8A-4147-A177-3AD203B41FA5}">
                      <a16:colId xmlns:a16="http://schemas.microsoft.com/office/drawing/2014/main" val="1241659408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2879877989"/>
                    </a:ext>
                  </a:extLst>
                </a:gridCol>
                <a:gridCol w="1349312">
                  <a:extLst>
                    <a:ext uri="{9D8B030D-6E8A-4147-A177-3AD203B41FA5}">
                      <a16:colId xmlns:a16="http://schemas.microsoft.com/office/drawing/2014/main" val="842807791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1846455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ülkeKodu_1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telefon</a:t>
                      </a:r>
                      <a:r>
                        <a:rPr lang="en-TR" dirty="0"/>
                        <a:t>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telefon_2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5551234567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5321234567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123546789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5051234567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5054567891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4007485" y="1690689"/>
            <a:ext cx="112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öğrenciler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9544E-6846-298C-DBD2-07DA7542ADFC}"/>
              </a:ext>
            </a:extLst>
          </p:cNvPr>
          <p:cNvSpPr txBox="1"/>
          <p:nvPr/>
        </p:nvSpPr>
        <p:spPr>
          <a:xfrm>
            <a:off x="2156403" y="3912713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Sütunlarda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yalnızca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değerli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nitelikler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Aynı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sütunda</a:t>
            </a:r>
            <a:r>
              <a:rPr lang="en-US" dirty="0">
                <a:solidFill>
                  <a:srgbClr val="00B050"/>
                </a:solidFill>
              </a:rPr>
              <a:t> 1’den </a:t>
            </a:r>
            <a:r>
              <a:rPr lang="en-US" dirty="0" err="1">
                <a:solidFill>
                  <a:srgbClr val="00B050"/>
                </a:solidFill>
              </a:rPr>
              <a:t>çok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tipte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veri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olmamalıdır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Her </a:t>
            </a:r>
            <a:r>
              <a:rPr lang="en-US" dirty="0" err="1">
                <a:solidFill>
                  <a:srgbClr val="00B050"/>
                </a:solidFill>
              </a:rPr>
              <a:t>sütun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için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benzersiz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bir</a:t>
            </a:r>
            <a:r>
              <a:rPr lang="en-US" dirty="0">
                <a:solidFill>
                  <a:srgbClr val="00B050"/>
                </a:solidFill>
              </a:rPr>
              <a:t> ad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Primary key </a:t>
            </a:r>
            <a:r>
              <a:rPr lang="en-US" dirty="0" err="1"/>
              <a:t>bulunmalıdır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sütunlar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7243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99807"/>
              </p:ext>
            </p:extLst>
          </p:nvPr>
        </p:nvGraphicFramePr>
        <p:xfrm>
          <a:off x="628649" y="2060021"/>
          <a:ext cx="745826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208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935546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  <a:gridCol w="1401699">
                  <a:extLst>
                    <a:ext uri="{9D8B030D-6E8A-4147-A177-3AD203B41FA5}">
                      <a16:colId xmlns:a16="http://schemas.microsoft.com/office/drawing/2014/main" val="1241659408"/>
                    </a:ext>
                  </a:extLst>
                </a:gridCol>
                <a:gridCol w="1394143">
                  <a:extLst>
                    <a:ext uri="{9D8B030D-6E8A-4147-A177-3AD203B41FA5}">
                      <a16:colId xmlns:a16="http://schemas.microsoft.com/office/drawing/2014/main" val="2879877989"/>
                    </a:ext>
                  </a:extLst>
                </a:gridCol>
                <a:gridCol w="1349312">
                  <a:extLst>
                    <a:ext uri="{9D8B030D-6E8A-4147-A177-3AD203B41FA5}">
                      <a16:colId xmlns:a16="http://schemas.microsoft.com/office/drawing/2014/main" val="842807791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1846455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u="sng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sng" dirty="0"/>
                        <a:t>adres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ülkeKodu_1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telefon</a:t>
                      </a:r>
                      <a:r>
                        <a:rPr lang="en-TR" dirty="0"/>
                        <a:t>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ülkeKodu_2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telefon_2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5551234567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5321234567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123546789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5051234567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5054567891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4007485" y="1690689"/>
            <a:ext cx="112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öğrenciler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9544E-6846-298C-DBD2-07DA7542ADFC}"/>
              </a:ext>
            </a:extLst>
          </p:cNvPr>
          <p:cNvSpPr txBox="1"/>
          <p:nvPr/>
        </p:nvSpPr>
        <p:spPr>
          <a:xfrm>
            <a:off x="2156403" y="3912713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Sütunlarda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yalnızca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değerli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nitelikler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Aynı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sütunda</a:t>
            </a:r>
            <a:r>
              <a:rPr lang="en-US" dirty="0">
                <a:solidFill>
                  <a:srgbClr val="00B050"/>
                </a:solidFill>
              </a:rPr>
              <a:t> 1’den </a:t>
            </a:r>
            <a:r>
              <a:rPr lang="en-US" dirty="0" err="1">
                <a:solidFill>
                  <a:srgbClr val="00B050"/>
                </a:solidFill>
              </a:rPr>
              <a:t>çok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tipte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veri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olmamalıdır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Her </a:t>
            </a:r>
            <a:r>
              <a:rPr lang="en-US" dirty="0" err="1">
                <a:solidFill>
                  <a:srgbClr val="00B050"/>
                </a:solidFill>
              </a:rPr>
              <a:t>sütun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için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benzersiz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bir</a:t>
            </a:r>
            <a:r>
              <a:rPr lang="en-US" dirty="0">
                <a:solidFill>
                  <a:srgbClr val="00B050"/>
                </a:solidFill>
              </a:rPr>
              <a:t> ad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Primary key </a:t>
            </a:r>
            <a:r>
              <a:rPr lang="en-US" dirty="0" err="1">
                <a:solidFill>
                  <a:srgbClr val="00B050"/>
                </a:solidFill>
              </a:rPr>
              <a:t>bulunmalıdır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sütunlar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206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2523971"/>
              </p:ext>
            </p:extLst>
          </p:nvPr>
        </p:nvGraphicFramePr>
        <p:xfrm>
          <a:off x="628649" y="2060021"/>
          <a:ext cx="21036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208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1099457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u="sng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sng" dirty="0"/>
                        <a:t>adres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1027376" y="1635627"/>
            <a:ext cx="112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öğrenciler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9544E-6846-298C-DBD2-07DA7542ADFC}"/>
              </a:ext>
            </a:extLst>
          </p:cNvPr>
          <p:cNvSpPr txBox="1"/>
          <p:nvPr/>
        </p:nvSpPr>
        <p:spPr>
          <a:xfrm>
            <a:off x="2156403" y="4366010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Sütunlarda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yalnızca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değerli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nitelikler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Aynı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sütunda</a:t>
            </a:r>
            <a:r>
              <a:rPr lang="en-US" dirty="0">
                <a:solidFill>
                  <a:srgbClr val="00B050"/>
                </a:solidFill>
              </a:rPr>
              <a:t> 1’den </a:t>
            </a:r>
            <a:r>
              <a:rPr lang="en-US" dirty="0" err="1">
                <a:solidFill>
                  <a:srgbClr val="00B050"/>
                </a:solidFill>
              </a:rPr>
              <a:t>çok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tipte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veri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olmamalıdır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Her </a:t>
            </a:r>
            <a:r>
              <a:rPr lang="en-US" dirty="0" err="1">
                <a:solidFill>
                  <a:srgbClr val="00B050"/>
                </a:solidFill>
              </a:rPr>
              <a:t>sütun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için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benzersiz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bir</a:t>
            </a:r>
            <a:r>
              <a:rPr lang="en-US" dirty="0">
                <a:solidFill>
                  <a:srgbClr val="00B050"/>
                </a:solidFill>
              </a:rPr>
              <a:t> ad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Primary key </a:t>
            </a:r>
            <a:r>
              <a:rPr lang="en-US" dirty="0" err="1">
                <a:solidFill>
                  <a:srgbClr val="00B050"/>
                </a:solidFill>
              </a:rPr>
              <a:t>bulunmalıdır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Tekrar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eden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sütunlar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olmamalıdır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C83009C-34ED-2DB6-A9BC-E75A58A4D6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118572"/>
              </p:ext>
            </p:extLst>
          </p:nvPr>
        </p:nvGraphicFramePr>
        <p:xfrm>
          <a:off x="3186905" y="2062642"/>
          <a:ext cx="44846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208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935546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  <a:gridCol w="1171512">
                  <a:extLst>
                    <a:ext uri="{9D8B030D-6E8A-4147-A177-3AD203B41FA5}">
                      <a16:colId xmlns:a16="http://schemas.microsoft.com/office/drawing/2014/main" val="1241659408"/>
                    </a:ext>
                  </a:extLst>
                </a:gridCol>
                <a:gridCol w="1373354">
                  <a:extLst>
                    <a:ext uri="{9D8B030D-6E8A-4147-A177-3AD203B41FA5}">
                      <a16:colId xmlns:a16="http://schemas.microsoft.com/office/drawing/2014/main" val="2879877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u="sng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sng" dirty="0"/>
                        <a:t>adres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sng" dirty="0"/>
                        <a:t>ülkeKodu</a:t>
                      </a:r>
                      <a:r>
                        <a:rPr lang="en-T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err="1"/>
                        <a:t>telefon</a:t>
                      </a:r>
                      <a:endParaRPr lang="en-TR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5551234567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5321234567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617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123546789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5051234567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Adres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5054567891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59127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C81C88B-7812-A8A4-C566-E55EE5820011}"/>
              </a:ext>
            </a:extLst>
          </p:cNvPr>
          <p:cNvSpPr txBox="1"/>
          <p:nvPr/>
        </p:nvSpPr>
        <p:spPr>
          <a:xfrm>
            <a:off x="4788996" y="1635627"/>
            <a:ext cx="1093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telefonlar</a:t>
            </a:r>
          </a:p>
        </p:txBody>
      </p:sp>
    </p:spTree>
    <p:extLst>
      <p:ext uri="{BB962C8B-B14F-4D97-AF65-F5344CB8AC3E}">
        <p14:creationId xmlns:p14="http://schemas.microsoft.com/office/powerpoint/2010/main" val="272843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610835"/>
              </p:ext>
            </p:extLst>
          </p:nvPr>
        </p:nvGraphicFramePr>
        <p:xfrm>
          <a:off x="2156403" y="2087035"/>
          <a:ext cx="478864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4121896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u="none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envanter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3 ilk yardım, 2 ışınlanma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 ışınlanma, 1 ilk yardım, 5 halat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 pusula, 3 halat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2156403" y="1717703"/>
            <a:ext cx="1116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oyuncular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D7B6C-E294-B614-5CC5-99A121750725}"/>
              </a:ext>
            </a:extLst>
          </p:cNvPr>
          <p:cNvSpPr txBox="1"/>
          <p:nvPr/>
        </p:nvSpPr>
        <p:spPr>
          <a:xfrm>
            <a:off x="2156403" y="3939727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Primary key </a:t>
            </a:r>
            <a:r>
              <a:rPr lang="en-US" dirty="0" err="1"/>
              <a:t>bulunmalıdır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Sütunlarda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değerli</a:t>
            </a:r>
            <a:r>
              <a:rPr lang="en-US" dirty="0"/>
              <a:t> </a:t>
            </a:r>
            <a:r>
              <a:rPr lang="en-US" dirty="0" err="1"/>
              <a:t>nitelikler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sütunda</a:t>
            </a:r>
            <a:r>
              <a:rPr lang="en-US" dirty="0"/>
              <a:t> 1’den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tipte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Her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benzersiz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ad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grupları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4322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394383"/>
              </p:ext>
            </p:extLst>
          </p:nvPr>
        </p:nvGraphicFramePr>
        <p:xfrm>
          <a:off x="2156403" y="2087035"/>
          <a:ext cx="504401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572103169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3618124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u="sng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envanter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a@b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3 ilk yardım, 2 ışınlanma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b@c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 ışınlanma, 1 ilk yardım, 5 halat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c@d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 pusula, 3 halat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2156403" y="1717703"/>
            <a:ext cx="1116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oyuncular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D7B6C-E294-B614-5CC5-99A121750725}"/>
              </a:ext>
            </a:extLst>
          </p:cNvPr>
          <p:cNvSpPr txBox="1"/>
          <p:nvPr/>
        </p:nvSpPr>
        <p:spPr>
          <a:xfrm>
            <a:off x="2156403" y="3939727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Primary key </a:t>
            </a:r>
            <a:r>
              <a:rPr lang="en-US" dirty="0" err="1">
                <a:solidFill>
                  <a:srgbClr val="00B050"/>
                </a:solidFill>
              </a:rPr>
              <a:t>bulunmalıdır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Sütunlarda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değerli</a:t>
            </a:r>
            <a:r>
              <a:rPr lang="en-US" dirty="0"/>
              <a:t> </a:t>
            </a:r>
            <a:r>
              <a:rPr lang="en-US" dirty="0" err="1"/>
              <a:t>nitelikler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sütunda</a:t>
            </a:r>
            <a:r>
              <a:rPr lang="en-US" dirty="0"/>
              <a:t> 1’den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tipte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Her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benzersiz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ad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grupları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5777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8176130"/>
              </p:ext>
            </p:extLst>
          </p:nvPr>
        </p:nvGraphicFramePr>
        <p:xfrm>
          <a:off x="2156403" y="2087035"/>
          <a:ext cx="535000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572103169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1308037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  <a:gridCol w="1308037">
                  <a:extLst>
                    <a:ext uri="{9D8B030D-6E8A-4147-A177-3AD203B41FA5}">
                      <a16:colId xmlns:a16="http://schemas.microsoft.com/office/drawing/2014/main" val="1620034976"/>
                    </a:ext>
                  </a:extLst>
                </a:gridCol>
                <a:gridCol w="1308037">
                  <a:extLst>
                    <a:ext uri="{9D8B030D-6E8A-4147-A177-3AD203B41FA5}">
                      <a16:colId xmlns:a16="http://schemas.microsoft.com/office/drawing/2014/main" val="2653035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u="sng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envanter_1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envanter_2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envanter_3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a@b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3 ilk yardım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2 ışınlanma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b@c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 ışınlanma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 ilk yardım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 halat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c@d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 pusula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3 halat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2156403" y="1717703"/>
            <a:ext cx="1116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oyuncular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D7B6C-E294-B614-5CC5-99A121750725}"/>
              </a:ext>
            </a:extLst>
          </p:cNvPr>
          <p:cNvSpPr txBox="1"/>
          <p:nvPr/>
        </p:nvSpPr>
        <p:spPr>
          <a:xfrm>
            <a:off x="2156403" y="3939727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Primary key </a:t>
            </a:r>
            <a:r>
              <a:rPr lang="en-US" dirty="0" err="1">
                <a:solidFill>
                  <a:srgbClr val="00B050"/>
                </a:solidFill>
              </a:rPr>
              <a:t>bulunmalıdır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Sütunlarda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yalnızca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değerli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nitelikler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sütunda</a:t>
            </a:r>
            <a:r>
              <a:rPr lang="en-US" dirty="0"/>
              <a:t> 1’den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tipte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Her </a:t>
            </a:r>
            <a:r>
              <a:rPr lang="en-US" dirty="0" err="1">
                <a:solidFill>
                  <a:srgbClr val="00B050"/>
                </a:solidFill>
              </a:rPr>
              <a:t>sütun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için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benzersiz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bir</a:t>
            </a:r>
            <a:r>
              <a:rPr lang="en-US" dirty="0">
                <a:solidFill>
                  <a:srgbClr val="00B050"/>
                </a:solidFill>
              </a:rPr>
              <a:t> ad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grupları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5906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3820743"/>
              </p:ext>
            </p:extLst>
          </p:nvPr>
        </p:nvGraphicFramePr>
        <p:xfrm>
          <a:off x="326571" y="2087035"/>
          <a:ext cx="81887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964">
                  <a:extLst>
                    <a:ext uri="{9D8B030D-6E8A-4147-A177-3AD203B41FA5}">
                      <a16:colId xmlns:a16="http://schemas.microsoft.com/office/drawing/2014/main" val="3572103169"/>
                    </a:ext>
                  </a:extLst>
                </a:gridCol>
                <a:gridCol w="704359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874747">
                  <a:extLst>
                    <a:ext uri="{9D8B030D-6E8A-4147-A177-3AD203B41FA5}">
                      <a16:colId xmlns:a16="http://schemas.microsoft.com/office/drawing/2014/main" val="1221790741"/>
                    </a:ext>
                  </a:extLst>
                </a:gridCol>
                <a:gridCol w="1381819">
                  <a:extLst>
                    <a:ext uri="{9D8B030D-6E8A-4147-A177-3AD203B41FA5}">
                      <a16:colId xmlns:a16="http://schemas.microsoft.com/office/drawing/2014/main" val="1109569717"/>
                    </a:ext>
                  </a:extLst>
                </a:gridCol>
                <a:gridCol w="874747">
                  <a:extLst>
                    <a:ext uri="{9D8B030D-6E8A-4147-A177-3AD203B41FA5}">
                      <a16:colId xmlns:a16="http://schemas.microsoft.com/office/drawing/2014/main" val="525194947"/>
                    </a:ext>
                  </a:extLst>
                </a:gridCol>
                <a:gridCol w="1381819">
                  <a:extLst>
                    <a:ext uri="{9D8B030D-6E8A-4147-A177-3AD203B41FA5}">
                      <a16:colId xmlns:a16="http://schemas.microsoft.com/office/drawing/2014/main" val="1620034976"/>
                    </a:ext>
                  </a:extLst>
                </a:gridCol>
                <a:gridCol w="874747">
                  <a:extLst>
                    <a:ext uri="{9D8B030D-6E8A-4147-A177-3AD203B41FA5}">
                      <a16:colId xmlns:a16="http://schemas.microsoft.com/office/drawing/2014/main" val="503295168"/>
                    </a:ext>
                  </a:extLst>
                </a:gridCol>
                <a:gridCol w="1294578">
                  <a:extLst>
                    <a:ext uri="{9D8B030D-6E8A-4147-A177-3AD203B41FA5}">
                      <a16:colId xmlns:a16="http://schemas.microsoft.com/office/drawing/2014/main" val="2653035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u="sng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sayi_1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envanter_1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sayi_2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envanter_2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sayi_3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envanter_3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a@b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ilk yardım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ışınlanma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b@c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Veli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ışınlanma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ilk yardım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halat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c@d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pusula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halat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326571" y="1696714"/>
            <a:ext cx="1116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oyuncular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D7B6C-E294-B614-5CC5-99A121750725}"/>
              </a:ext>
            </a:extLst>
          </p:cNvPr>
          <p:cNvSpPr txBox="1"/>
          <p:nvPr/>
        </p:nvSpPr>
        <p:spPr>
          <a:xfrm>
            <a:off x="2156403" y="3939727"/>
            <a:ext cx="4831194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Primary key </a:t>
            </a:r>
            <a:r>
              <a:rPr lang="en-US" dirty="0" err="1">
                <a:solidFill>
                  <a:srgbClr val="00B050"/>
                </a:solidFill>
              </a:rPr>
              <a:t>bulunmalıdır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Sütunlarda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yalnızca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tek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değerli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nitelikler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B050"/>
                </a:solidFill>
              </a:rPr>
              <a:t>Aynı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sütunda</a:t>
            </a:r>
            <a:r>
              <a:rPr lang="en-US" dirty="0">
                <a:solidFill>
                  <a:srgbClr val="00B050"/>
                </a:solidFill>
              </a:rPr>
              <a:t> 1’den </a:t>
            </a:r>
            <a:r>
              <a:rPr lang="en-US" dirty="0" err="1">
                <a:solidFill>
                  <a:srgbClr val="00B050"/>
                </a:solidFill>
              </a:rPr>
              <a:t>çok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tipte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veri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olmamalıdır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Her </a:t>
            </a:r>
            <a:r>
              <a:rPr lang="en-US" dirty="0" err="1">
                <a:solidFill>
                  <a:srgbClr val="00B050"/>
                </a:solidFill>
              </a:rPr>
              <a:t>sütun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için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benzersiz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bir</a:t>
            </a:r>
            <a:r>
              <a:rPr lang="en-US" dirty="0">
                <a:solidFill>
                  <a:srgbClr val="00B050"/>
                </a:solidFill>
              </a:rPr>
              <a:t> ad </a:t>
            </a:r>
            <a:r>
              <a:rPr lang="en-US" dirty="0" err="1">
                <a:solidFill>
                  <a:srgbClr val="00B050"/>
                </a:solidFill>
              </a:rPr>
              <a:t>vardır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</a:t>
            </a:r>
            <a:r>
              <a:rPr lang="en-US" dirty="0" err="1"/>
              <a:t>sütun</a:t>
            </a:r>
            <a:r>
              <a:rPr lang="en-US" dirty="0"/>
              <a:t> </a:t>
            </a:r>
            <a:r>
              <a:rPr lang="en-US" dirty="0" err="1"/>
              <a:t>grupları</a:t>
            </a:r>
            <a:r>
              <a:rPr lang="en-US" dirty="0"/>
              <a:t> </a:t>
            </a:r>
            <a:r>
              <a:rPr lang="en-US" dirty="0" err="1"/>
              <a:t>olmamalıdır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3830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B50E-5F84-F9AA-3235-4E023959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CC597-D3D8-FED5-C281-CB6F1D9A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1. Normal Form (1NF)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33FC9D-3759-EDD2-8072-2E874D736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724640"/>
              </p:ext>
            </p:extLst>
          </p:nvPr>
        </p:nvGraphicFramePr>
        <p:xfrm>
          <a:off x="2379878" y="2087035"/>
          <a:ext cx="150632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964">
                  <a:extLst>
                    <a:ext uri="{9D8B030D-6E8A-4147-A177-3AD203B41FA5}">
                      <a16:colId xmlns:a16="http://schemas.microsoft.com/office/drawing/2014/main" val="3572103169"/>
                    </a:ext>
                  </a:extLst>
                </a:gridCol>
                <a:gridCol w="704359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u="sng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a@b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b@c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Veli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c@d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Ayşe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ED7191-2B98-7F6A-1A3B-78F3948B1727}"/>
              </a:ext>
            </a:extLst>
          </p:cNvPr>
          <p:cNvSpPr txBox="1"/>
          <p:nvPr/>
        </p:nvSpPr>
        <p:spPr>
          <a:xfrm>
            <a:off x="2379878" y="1717703"/>
            <a:ext cx="1116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oyuncular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ED7B6C-E294-B614-5CC5-99A121750725}"/>
              </a:ext>
            </a:extLst>
          </p:cNvPr>
          <p:cNvSpPr txBox="1"/>
          <p:nvPr/>
        </p:nvSpPr>
        <p:spPr>
          <a:xfrm>
            <a:off x="326571" y="4818185"/>
            <a:ext cx="3869393" cy="1674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B050"/>
                </a:solidFill>
              </a:rPr>
              <a:t>Primary key </a:t>
            </a:r>
            <a:r>
              <a:rPr lang="en-US" sz="1400" dirty="0" err="1">
                <a:solidFill>
                  <a:srgbClr val="00B050"/>
                </a:solidFill>
              </a:rPr>
              <a:t>bulunmalıdır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B050"/>
                </a:solidFill>
              </a:rPr>
              <a:t>Sütunlarda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yalnızca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tek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değerli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nitelikler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vardır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B050"/>
                </a:solidFill>
              </a:rPr>
              <a:t>Aynı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sütunda</a:t>
            </a:r>
            <a:r>
              <a:rPr lang="en-US" sz="1400" dirty="0">
                <a:solidFill>
                  <a:srgbClr val="00B050"/>
                </a:solidFill>
              </a:rPr>
              <a:t> 1’den </a:t>
            </a:r>
            <a:r>
              <a:rPr lang="en-US" sz="1400" dirty="0" err="1">
                <a:solidFill>
                  <a:srgbClr val="00B050"/>
                </a:solidFill>
              </a:rPr>
              <a:t>çok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tipte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veri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olmamalıdır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B050"/>
                </a:solidFill>
              </a:rPr>
              <a:t>Her </a:t>
            </a:r>
            <a:r>
              <a:rPr lang="en-US" sz="1400" dirty="0" err="1">
                <a:solidFill>
                  <a:srgbClr val="00B050"/>
                </a:solidFill>
              </a:rPr>
              <a:t>sütun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için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benzersiz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bir</a:t>
            </a:r>
            <a:r>
              <a:rPr lang="en-US" sz="1400" dirty="0">
                <a:solidFill>
                  <a:srgbClr val="00B050"/>
                </a:solidFill>
              </a:rPr>
              <a:t> ad </a:t>
            </a:r>
            <a:r>
              <a:rPr lang="en-US" sz="1400" dirty="0" err="1">
                <a:solidFill>
                  <a:srgbClr val="00B050"/>
                </a:solidFill>
              </a:rPr>
              <a:t>vardır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00B050"/>
                </a:solidFill>
              </a:rPr>
              <a:t>Tekrar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eden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sütun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grupları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olmamalıdır</a:t>
            </a:r>
            <a:r>
              <a:rPr lang="en-US" sz="1400" dirty="0">
                <a:solidFill>
                  <a:srgbClr val="00B050"/>
                </a:solidFill>
              </a:rPr>
              <a:t>.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0367C05F-D13A-68FA-AEE8-F103371749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3662691"/>
              </p:ext>
            </p:extLst>
          </p:nvPr>
        </p:nvGraphicFramePr>
        <p:xfrm>
          <a:off x="5257800" y="2087035"/>
          <a:ext cx="334191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306">
                  <a:extLst>
                    <a:ext uri="{9D8B030D-6E8A-4147-A177-3AD203B41FA5}">
                      <a16:colId xmlns:a16="http://schemas.microsoft.com/office/drawing/2014/main" val="3572103169"/>
                    </a:ext>
                  </a:extLst>
                </a:gridCol>
                <a:gridCol w="818792">
                  <a:extLst>
                    <a:ext uri="{9D8B030D-6E8A-4147-A177-3AD203B41FA5}">
                      <a16:colId xmlns:a16="http://schemas.microsoft.com/office/drawing/2014/main" val="3444992394"/>
                    </a:ext>
                  </a:extLst>
                </a:gridCol>
                <a:gridCol w="1179817">
                  <a:extLst>
                    <a:ext uri="{9D8B030D-6E8A-4147-A177-3AD203B41FA5}">
                      <a16:colId xmlns:a16="http://schemas.microsoft.com/office/drawing/2014/main" val="876748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TR" u="sng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none" dirty="0"/>
                        <a:t>sayi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u="sng" dirty="0"/>
                        <a:t>envanter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05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a@b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ilk yardım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22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a@b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ışınlanma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92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b@c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ilk yardım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863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b@c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ışınlanma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60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TR" dirty="0"/>
                        <a:t>b@c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halat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42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c@d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pusula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02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TR" dirty="0"/>
                        <a:t>c@d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TR" dirty="0"/>
                        <a:t>halat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6562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049062-D1FA-6F18-06DC-00507C005DC8}"/>
              </a:ext>
            </a:extLst>
          </p:cNvPr>
          <p:cNvSpPr txBox="1"/>
          <p:nvPr/>
        </p:nvSpPr>
        <p:spPr>
          <a:xfrm>
            <a:off x="5257800" y="1717703"/>
            <a:ext cx="126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envanterler</a:t>
            </a:r>
          </a:p>
        </p:txBody>
      </p:sp>
    </p:spTree>
    <p:extLst>
      <p:ext uri="{BB962C8B-B14F-4D97-AF65-F5344CB8AC3E}">
        <p14:creationId xmlns:p14="http://schemas.microsoft.com/office/powerpoint/2010/main" val="3823865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4533</TotalTime>
  <Words>1404</Words>
  <Application>Microsoft Macintosh PowerPoint</Application>
  <PresentationFormat>On-screen Show (4:3)</PresentationFormat>
  <Paragraphs>459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Office Theme</vt:lpstr>
      <vt:lpstr>1906003022015  Veritabanı Yönetim Sistemleri  BAİBÜ Bilgisayar Müh.</vt:lpstr>
      <vt:lpstr>İlişkisel Veritabanı Tasarımı</vt:lpstr>
      <vt:lpstr>Örnek</vt:lpstr>
      <vt:lpstr>Örnek</vt:lpstr>
      <vt:lpstr>Örnek</vt:lpstr>
      <vt:lpstr>Örnek</vt:lpstr>
      <vt:lpstr>Ayrıştırma ile Tasarım</vt:lpstr>
      <vt:lpstr>Normal Formlar</vt:lpstr>
      <vt:lpstr>1. Normal Form (1NF)</vt:lpstr>
      <vt:lpstr>1. Normal Form (1NF)</vt:lpstr>
      <vt:lpstr>1. Normal Form (1NF)</vt:lpstr>
      <vt:lpstr>1. Normal Form (1NF)</vt:lpstr>
      <vt:lpstr>1. Normal Form (1NF)</vt:lpstr>
      <vt:lpstr>1. Normal Form (1NF)</vt:lpstr>
      <vt:lpstr>1. Normal Form (1NF)</vt:lpstr>
      <vt:lpstr>1. Normal Form (1NF)</vt:lpstr>
      <vt:lpstr>1. Normal Form (1NF)</vt:lpstr>
      <vt:lpstr>1. Normal Form (1NF)</vt:lpstr>
      <vt:lpstr>1. Normal Form (1NF)</vt:lpstr>
      <vt:lpstr>1. Normal Form (1NF)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1906002132015  Programlama Dilleri Temelleri  BAİBÜ Bilgisayar Müh.</dc:title>
  <dc:creator>ismail parlak</dc:creator>
  <cp:lastModifiedBy>İsmail Hakkı Parlak</cp:lastModifiedBy>
  <cp:revision>266</cp:revision>
  <dcterms:created xsi:type="dcterms:W3CDTF">2022-10-02T13:24:37Z</dcterms:created>
  <dcterms:modified xsi:type="dcterms:W3CDTF">2025-04-14T16:59:24Z</dcterms:modified>
</cp:coreProperties>
</file>